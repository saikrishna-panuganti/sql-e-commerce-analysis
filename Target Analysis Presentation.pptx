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RoxboroughCF Bold" charset="1" panose="00000800000000000000"/>
      <p:regular r:id="rId15"/>
    </p:embeddedFont>
    <p:embeddedFont>
      <p:font typeface="Sorts Mill Goudy" charset="1" panose="02000503000000000000"/>
      <p:regular r:id="rId16"/>
    </p:embeddedFont>
    <p:embeddedFont>
      <p:font typeface="Canva Sans" charset="1" panose="020B0503030501040103"/>
      <p:regular r:id="rId17"/>
    </p:embeddedFont>
    <p:embeddedFont>
      <p:font typeface="Montserrat Bold Italics" charset="1" panose="00000800000000000000"/>
      <p:regular r:id="rId18"/>
    </p:embeddedFont>
    <p:embeddedFont>
      <p:font typeface="Montserrat Bold" charset="1" panose="00000800000000000000"/>
      <p:regular r:id="rId19"/>
    </p:embeddedFont>
    <p:embeddedFont>
      <p:font typeface="Arimo Bold" charset="1" panose="020B0704020202020204"/>
      <p:regular r:id="rId20"/>
    </p:embeddedFont>
    <p:embeddedFont>
      <p:font typeface="Montserrat" charset="1" panose="00000500000000000000"/>
      <p:regular r:id="rId21"/>
    </p:embeddedFont>
    <p:embeddedFont>
      <p:font typeface="Montserrat Italics" charset="1" panose="00000500000000000000"/>
      <p:regular r:id="rId22"/>
    </p:embeddedFont>
    <p:embeddedFont>
      <p:font typeface="RoxboroughCF"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https://www.linkedin.com/in/sai-krishna-panuganti/"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55357" y="433109"/>
            <a:ext cx="7849812" cy="7785020"/>
          </a:xfrm>
          <a:custGeom>
            <a:avLst/>
            <a:gdLst/>
            <a:ahLst/>
            <a:cxnLst/>
            <a:rect r="r" b="b" t="t" l="l"/>
            <a:pathLst>
              <a:path h="7785020" w="7849812">
                <a:moveTo>
                  <a:pt x="0" y="0"/>
                </a:moveTo>
                <a:lnTo>
                  <a:pt x="7849812" y="0"/>
                </a:lnTo>
                <a:lnTo>
                  <a:pt x="7849812" y="7785019"/>
                </a:lnTo>
                <a:lnTo>
                  <a:pt x="0" y="77850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142640" y="433109"/>
            <a:ext cx="4835769" cy="4114800"/>
          </a:xfrm>
          <a:custGeom>
            <a:avLst/>
            <a:gdLst/>
            <a:ahLst/>
            <a:cxnLst/>
            <a:rect r="r" b="b" t="t" l="l"/>
            <a:pathLst>
              <a:path h="4114800" w="4835769">
                <a:moveTo>
                  <a:pt x="0" y="0"/>
                </a:moveTo>
                <a:lnTo>
                  <a:pt x="4835769" y="0"/>
                </a:lnTo>
                <a:lnTo>
                  <a:pt x="4835769" y="4114800"/>
                </a:lnTo>
                <a:lnTo>
                  <a:pt x="0" y="4114800"/>
                </a:lnTo>
                <a:lnTo>
                  <a:pt x="0" y="0"/>
                </a:lnTo>
                <a:close/>
              </a:path>
            </a:pathLst>
          </a:custGeom>
          <a:blipFill>
            <a:blip r:embed="rId4">
              <a:alphaModFix amt="6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537817" y="6761661"/>
            <a:ext cx="2873879" cy="3271074"/>
          </a:xfrm>
          <a:custGeom>
            <a:avLst/>
            <a:gdLst/>
            <a:ahLst/>
            <a:cxnLst/>
            <a:rect r="r" b="b" t="t" l="l"/>
            <a:pathLst>
              <a:path h="3271074" w="2873879">
                <a:moveTo>
                  <a:pt x="0" y="0"/>
                </a:moveTo>
                <a:lnTo>
                  <a:pt x="2873879" y="0"/>
                </a:lnTo>
                <a:lnTo>
                  <a:pt x="2873879" y="3271074"/>
                </a:lnTo>
                <a:lnTo>
                  <a:pt x="0" y="3271074"/>
                </a:lnTo>
                <a:lnTo>
                  <a:pt x="0" y="0"/>
                </a:lnTo>
                <a:close/>
              </a:path>
            </a:pathLst>
          </a:custGeom>
          <a:blipFill>
            <a:blip r:embed="rId6">
              <a:alphaModFix amt="6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5020089" y="6615479"/>
            <a:ext cx="3397145" cy="3525339"/>
          </a:xfrm>
          <a:custGeom>
            <a:avLst/>
            <a:gdLst/>
            <a:ahLst/>
            <a:cxnLst/>
            <a:rect r="r" b="b" t="t" l="l"/>
            <a:pathLst>
              <a:path h="3525339" w="3397145">
                <a:moveTo>
                  <a:pt x="0" y="0"/>
                </a:moveTo>
                <a:lnTo>
                  <a:pt x="3397144" y="0"/>
                </a:lnTo>
                <a:lnTo>
                  <a:pt x="3397144" y="3525339"/>
                </a:lnTo>
                <a:lnTo>
                  <a:pt x="0" y="3525339"/>
                </a:lnTo>
                <a:lnTo>
                  <a:pt x="0" y="0"/>
                </a:lnTo>
                <a:close/>
              </a:path>
            </a:pathLst>
          </a:custGeom>
          <a:blipFill>
            <a:blip r:embed="rId8">
              <a:alphaModFix amt="6000"/>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23825" y="832533"/>
            <a:ext cx="8018815" cy="5782946"/>
          </a:xfrm>
          <a:prstGeom prst="rect">
            <a:avLst/>
          </a:prstGeom>
        </p:spPr>
        <p:txBody>
          <a:bodyPr anchor="t" rtlCol="false" tIns="0" lIns="0" bIns="0" rIns="0">
            <a:spAutoFit/>
          </a:bodyPr>
          <a:lstStyle/>
          <a:p>
            <a:pPr algn="ctr">
              <a:lnSpc>
                <a:spcPts val="11479"/>
              </a:lnSpc>
            </a:pPr>
            <a:r>
              <a:rPr lang="en-US" b="true" sz="8199" spc="-163">
                <a:solidFill>
                  <a:srgbClr val="CC0000"/>
                </a:solidFill>
                <a:latin typeface="RoxboroughCF Bold"/>
                <a:ea typeface="RoxboroughCF Bold"/>
                <a:cs typeface="RoxboroughCF Bold"/>
                <a:sym typeface="RoxboroughCF Bold"/>
              </a:rPr>
              <a:t>En</a:t>
            </a:r>
            <a:r>
              <a:rPr lang="en-US" b="true" sz="8199" spc="-163">
                <a:solidFill>
                  <a:srgbClr val="CC0000"/>
                </a:solidFill>
                <a:latin typeface="RoxboroughCF Bold"/>
                <a:ea typeface="RoxboroughCF Bold"/>
                <a:cs typeface="RoxboroughCF Bold"/>
                <a:sym typeface="RoxboroughCF Bold"/>
              </a:rPr>
              <a:t>d-to-End SQL Analysis of Olist E-Commerce Dataset</a:t>
            </a:r>
          </a:p>
        </p:txBody>
      </p:sp>
      <p:sp>
        <p:nvSpPr>
          <p:cNvPr name="TextBox 7" id="7"/>
          <p:cNvSpPr txBox="true"/>
          <p:nvPr/>
        </p:nvSpPr>
        <p:spPr>
          <a:xfrm rot="0">
            <a:off x="1209360" y="8180028"/>
            <a:ext cx="4767262" cy="396240"/>
          </a:xfrm>
          <a:prstGeom prst="rect">
            <a:avLst/>
          </a:prstGeom>
        </p:spPr>
        <p:txBody>
          <a:bodyPr anchor="t" rtlCol="false" tIns="0" lIns="0" bIns="0" rIns="0">
            <a:spAutoFit/>
          </a:bodyPr>
          <a:lstStyle/>
          <a:p>
            <a:pPr algn="ctr">
              <a:lnSpc>
                <a:spcPts val="3359"/>
              </a:lnSpc>
            </a:pPr>
            <a:r>
              <a:rPr lang="en-US" sz="2400">
                <a:solidFill>
                  <a:srgbClr val="333333"/>
                </a:solidFill>
                <a:latin typeface="Sorts Mill Goudy"/>
                <a:ea typeface="Sorts Mill Goudy"/>
                <a:cs typeface="Sorts Mill Goudy"/>
                <a:sym typeface="Sorts Mill Goudy"/>
              </a:rPr>
              <a:t>Presented by:   Sai krishna Panuganti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15014" y="189005"/>
            <a:ext cx="1564066" cy="2544213"/>
          </a:xfrm>
          <a:custGeom>
            <a:avLst/>
            <a:gdLst/>
            <a:ahLst/>
            <a:cxnLst/>
            <a:rect r="r" b="b" t="t" l="l"/>
            <a:pathLst>
              <a:path h="2544213" w="1564066">
                <a:moveTo>
                  <a:pt x="0" y="0"/>
                </a:moveTo>
                <a:lnTo>
                  <a:pt x="1564066" y="0"/>
                </a:lnTo>
                <a:lnTo>
                  <a:pt x="1564066" y="2544213"/>
                </a:lnTo>
                <a:lnTo>
                  <a:pt x="0" y="2544213"/>
                </a:lnTo>
                <a:lnTo>
                  <a:pt x="0" y="0"/>
                </a:lnTo>
                <a:close/>
              </a:path>
            </a:pathLst>
          </a:custGeom>
          <a:blipFill>
            <a:blip r:embed="rId2">
              <a:alphaModFix amt="3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00852" y="6548874"/>
            <a:ext cx="5457674" cy="3185297"/>
          </a:xfrm>
          <a:custGeom>
            <a:avLst/>
            <a:gdLst/>
            <a:ahLst/>
            <a:cxnLst/>
            <a:rect r="r" b="b" t="t" l="l"/>
            <a:pathLst>
              <a:path h="3185297" w="5457674">
                <a:moveTo>
                  <a:pt x="0" y="0"/>
                </a:moveTo>
                <a:lnTo>
                  <a:pt x="5457674" y="0"/>
                </a:lnTo>
                <a:lnTo>
                  <a:pt x="5457674" y="3185297"/>
                </a:lnTo>
                <a:lnTo>
                  <a:pt x="0" y="3185297"/>
                </a:lnTo>
                <a:lnTo>
                  <a:pt x="0" y="0"/>
                </a:lnTo>
                <a:close/>
              </a:path>
            </a:pathLst>
          </a:custGeom>
          <a:blipFill>
            <a:blip r:embed="rId4">
              <a:alphaModFix amt="31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170626" y="1667968"/>
            <a:ext cx="7370203" cy="4289932"/>
          </a:xfrm>
          <a:custGeom>
            <a:avLst/>
            <a:gdLst/>
            <a:ahLst/>
            <a:cxnLst/>
            <a:rect r="r" b="b" t="t" l="l"/>
            <a:pathLst>
              <a:path h="4289932" w="7370203">
                <a:moveTo>
                  <a:pt x="0" y="0"/>
                </a:moveTo>
                <a:lnTo>
                  <a:pt x="7370204" y="0"/>
                </a:lnTo>
                <a:lnTo>
                  <a:pt x="7370204" y="4289932"/>
                </a:lnTo>
                <a:lnTo>
                  <a:pt x="0" y="4289932"/>
                </a:lnTo>
                <a:lnTo>
                  <a:pt x="0" y="0"/>
                </a:lnTo>
                <a:close/>
              </a:path>
            </a:pathLst>
          </a:custGeom>
          <a:blipFill>
            <a:blip r:embed="rId6">
              <a:alphaModFix amt="9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384080" y="-30186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alphaModFix amt="4000"/>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35060" y="5957900"/>
            <a:ext cx="3845468" cy="4114800"/>
          </a:xfrm>
          <a:custGeom>
            <a:avLst/>
            <a:gdLst/>
            <a:ahLst/>
            <a:cxnLst/>
            <a:rect r="r" b="b" t="t" l="l"/>
            <a:pathLst>
              <a:path h="4114800" w="3845468">
                <a:moveTo>
                  <a:pt x="0" y="0"/>
                </a:moveTo>
                <a:lnTo>
                  <a:pt x="3845468" y="0"/>
                </a:lnTo>
                <a:lnTo>
                  <a:pt x="3845468" y="4114800"/>
                </a:lnTo>
                <a:lnTo>
                  <a:pt x="0" y="4114800"/>
                </a:lnTo>
                <a:lnTo>
                  <a:pt x="0" y="0"/>
                </a:lnTo>
                <a:close/>
              </a:path>
            </a:pathLst>
          </a:custGeom>
          <a:blipFill>
            <a:blip r:embed="rId10">
              <a:alphaModFix amt="500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987704" y="155575"/>
            <a:ext cx="8018815" cy="873125"/>
          </a:xfrm>
          <a:prstGeom prst="rect">
            <a:avLst/>
          </a:prstGeom>
        </p:spPr>
        <p:txBody>
          <a:bodyPr anchor="t" rtlCol="false" tIns="0" lIns="0" bIns="0" rIns="0">
            <a:spAutoFit/>
          </a:bodyPr>
          <a:lstStyle/>
          <a:p>
            <a:pPr algn="ctr">
              <a:lnSpc>
                <a:spcPts val="7000"/>
              </a:lnSpc>
            </a:pPr>
            <a:r>
              <a:rPr lang="en-US" b="true" sz="5000" spc="-100">
                <a:solidFill>
                  <a:srgbClr val="CC0000"/>
                </a:solidFill>
                <a:latin typeface="RoxboroughCF Bold"/>
                <a:ea typeface="RoxboroughCF Bold"/>
                <a:cs typeface="RoxboroughCF Bold"/>
                <a:sym typeface="RoxboroughCF Bold"/>
              </a:rPr>
              <a:t>Pr</a:t>
            </a:r>
            <a:r>
              <a:rPr lang="en-US" b="true" sz="5000" spc="-100">
                <a:solidFill>
                  <a:srgbClr val="CC0000"/>
                </a:solidFill>
                <a:latin typeface="RoxboroughCF Bold"/>
                <a:ea typeface="RoxboroughCF Bold"/>
                <a:cs typeface="RoxboroughCF Bold"/>
                <a:sym typeface="RoxboroughCF Bold"/>
              </a:rPr>
              <a:t>oject Objective</a:t>
            </a:r>
          </a:p>
        </p:txBody>
      </p:sp>
      <p:sp>
        <p:nvSpPr>
          <p:cNvPr name="TextBox 8" id="8"/>
          <p:cNvSpPr txBox="true"/>
          <p:nvPr/>
        </p:nvSpPr>
        <p:spPr>
          <a:xfrm rot="0">
            <a:off x="712506" y="1365862"/>
            <a:ext cx="8569210" cy="7526815"/>
          </a:xfrm>
          <a:prstGeom prst="rect">
            <a:avLst/>
          </a:prstGeom>
        </p:spPr>
        <p:txBody>
          <a:bodyPr anchor="t" rtlCol="false" tIns="0" lIns="0" bIns="0" rIns="0">
            <a:spAutoFit/>
          </a:bodyPr>
          <a:lstStyle/>
          <a:p>
            <a:pPr algn="ctr">
              <a:lnSpc>
                <a:spcPts val="6606"/>
              </a:lnSpc>
            </a:pPr>
            <a:r>
              <a:rPr lang="en-US" sz="4719">
                <a:solidFill>
                  <a:srgbClr val="333333"/>
                </a:solidFill>
                <a:latin typeface="Canva Sans"/>
                <a:ea typeface="Canva Sans"/>
                <a:cs typeface="Canva Sans"/>
                <a:sym typeface="Canva Sans"/>
              </a:rPr>
              <a:t>To analyze a comprehensive e-commerce dataset (~100,000 or</a:t>
            </a:r>
            <a:r>
              <a:rPr lang="en-US" sz="4719">
                <a:solidFill>
                  <a:srgbClr val="333333"/>
                </a:solidFill>
                <a:latin typeface="Canva Sans"/>
                <a:ea typeface="Canva Sans"/>
                <a:cs typeface="Canva Sans"/>
                <a:sym typeface="Canva Sans"/>
              </a:rPr>
              <a:t>ders) to identify key trends in business growth, customer geography, and logistics performance, ultimately providing actionable recommendations to drive business strategy.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sp>
        <p:nvSpPr>
          <p:cNvPr name="Freeform 2" id="2"/>
          <p:cNvSpPr/>
          <p:nvPr/>
        </p:nvSpPr>
        <p:spPr>
          <a:xfrm flipH="false" flipV="false" rot="0">
            <a:off x="5688519" y="1236500"/>
            <a:ext cx="6910963" cy="3631397"/>
          </a:xfrm>
          <a:custGeom>
            <a:avLst/>
            <a:gdLst/>
            <a:ahLst/>
            <a:cxnLst/>
            <a:rect r="r" b="b" t="t" l="l"/>
            <a:pathLst>
              <a:path h="3631397" w="6910963">
                <a:moveTo>
                  <a:pt x="0" y="0"/>
                </a:moveTo>
                <a:lnTo>
                  <a:pt x="6910962" y="0"/>
                </a:lnTo>
                <a:lnTo>
                  <a:pt x="6910962" y="3631396"/>
                </a:lnTo>
                <a:lnTo>
                  <a:pt x="0" y="36313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145020" y="5841365"/>
            <a:ext cx="3731260" cy="3731260"/>
          </a:xfrm>
          <a:custGeom>
            <a:avLst/>
            <a:gdLst/>
            <a:ahLst/>
            <a:cxnLst/>
            <a:rect r="r" b="b" t="t" l="l"/>
            <a:pathLst>
              <a:path h="3731260" w="3731260">
                <a:moveTo>
                  <a:pt x="0" y="0"/>
                </a:moveTo>
                <a:lnTo>
                  <a:pt x="3731260" y="0"/>
                </a:lnTo>
                <a:lnTo>
                  <a:pt x="3731260" y="3731260"/>
                </a:lnTo>
                <a:lnTo>
                  <a:pt x="0" y="3731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679351" y="207645"/>
            <a:ext cx="8018815" cy="821055"/>
          </a:xfrm>
          <a:prstGeom prst="rect">
            <a:avLst/>
          </a:prstGeom>
        </p:spPr>
        <p:txBody>
          <a:bodyPr anchor="t" rtlCol="false" tIns="0" lIns="0" bIns="0" rIns="0">
            <a:spAutoFit/>
          </a:bodyPr>
          <a:lstStyle/>
          <a:p>
            <a:pPr algn="ctr">
              <a:lnSpc>
                <a:spcPts val="6720"/>
              </a:lnSpc>
            </a:pPr>
            <a:r>
              <a:rPr lang="en-US" b="true" sz="4800" spc="-96">
                <a:solidFill>
                  <a:srgbClr val="CC0000"/>
                </a:solidFill>
                <a:latin typeface="RoxboroughCF Bold"/>
                <a:ea typeface="RoxboroughCF Bold"/>
                <a:cs typeface="RoxboroughCF Bold"/>
                <a:sym typeface="RoxboroughCF Bold"/>
              </a:rPr>
              <a:t>My T</a:t>
            </a:r>
            <a:r>
              <a:rPr lang="en-US" b="true" sz="4800" spc="-96">
                <a:solidFill>
                  <a:srgbClr val="CC0000"/>
                </a:solidFill>
                <a:latin typeface="RoxboroughCF Bold"/>
                <a:ea typeface="RoxboroughCF Bold"/>
                <a:cs typeface="RoxboroughCF Bold"/>
                <a:sym typeface="RoxboroughCF Bold"/>
              </a:rPr>
              <a:t>oolkit</a:t>
            </a:r>
          </a:p>
        </p:txBody>
      </p:sp>
      <p:sp>
        <p:nvSpPr>
          <p:cNvPr name="TextBox 5" id="5"/>
          <p:cNvSpPr txBox="true"/>
          <p:nvPr/>
        </p:nvSpPr>
        <p:spPr>
          <a:xfrm rot="0">
            <a:off x="8272780" y="5029200"/>
            <a:ext cx="1184553" cy="464820"/>
          </a:xfrm>
          <a:prstGeom prst="rect">
            <a:avLst/>
          </a:prstGeom>
        </p:spPr>
        <p:txBody>
          <a:bodyPr anchor="t" rtlCol="false" tIns="0" lIns="0" bIns="0" rIns="0">
            <a:spAutoFit/>
          </a:bodyPr>
          <a:lstStyle/>
          <a:p>
            <a:pPr algn="ctr">
              <a:lnSpc>
                <a:spcPts val="3779"/>
              </a:lnSpc>
            </a:pPr>
            <a:r>
              <a:rPr lang="en-US" sz="2699">
                <a:solidFill>
                  <a:srgbClr val="333333"/>
                </a:solidFill>
                <a:latin typeface="Sorts Mill Goudy"/>
                <a:ea typeface="Sorts Mill Goudy"/>
                <a:cs typeface="Sorts Mill Goudy"/>
                <a:sym typeface="Sorts Mill Goudy"/>
              </a:rPr>
              <a:t>MySQL</a:t>
            </a:r>
          </a:p>
        </p:txBody>
      </p:sp>
      <p:sp>
        <p:nvSpPr>
          <p:cNvPr name="TextBox 6" id="6"/>
          <p:cNvSpPr txBox="true"/>
          <p:nvPr/>
        </p:nvSpPr>
        <p:spPr>
          <a:xfrm rot="0">
            <a:off x="8453080" y="9620250"/>
            <a:ext cx="1191339" cy="563881"/>
          </a:xfrm>
          <a:prstGeom prst="rect">
            <a:avLst/>
          </a:prstGeom>
        </p:spPr>
        <p:txBody>
          <a:bodyPr anchor="t" rtlCol="false" tIns="0" lIns="0" bIns="0" rIns="0">
            <a:spAutoFit/>
          </a:bodyPr>
          <a:lstStyle/>
          <a:p>
            <a:pPr algn="ctr">
              <a:lnSpc>
                <a:spcPts val="4619"/>
              </a:lnSpc>
            </a:pPr>
            <a:r>
              <a:rPr lang="en-US" sz="3299">
                <a:solidFill>
                  <a:srgbClr val="333333"/>
                </a:solidFill>
                <a:latin typeface="Sorts Mill Goudy"/>
                <a:ea typeface="Sorts Mill Goudy"/>
                <a:cs typeface="Sorts Mill Goudy"/>
                <a:sym typeface="Sorts Mill Goudy"/>
              </a:rPr>
              <a:t>Canva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sp>
        <p:nvSpPr>
          <p:cNvPr name="TextBox 2" id="2"/>
          <p:cNvSpPr txBox="true"/>
          <p:nvPr/>
        </p:nvSpPr>
        <p:spPr>
          <a:xfrm rot="0">
            <a:off x="4197879" y="313145"/>
            <a:ext cx="8514036" cy="1758950"/>
          </a:xfrm>
          <a:prstGeom prst="rect">
            <a:avLst/>
          </a:prstGeom>
        </p:spPr>
        <p:txBody>
          <a:bodyPr anchor="t" rtlCol="false" tIns="0" lIns="0" bIns="0" rIns="0">
            <a:spAutoFit/>
          </a:bodyPr>
          <a:lstStyle/>
          <a:p>
            <a:pPr algn="ctr">
              <a:lnSpc>
                <a:spcPts val="7000"/>
              </a:lnSpc>
            </a:pPr>
            <a:r>
              <a:rPr lang="en-US" b="true" sz="5000" spc="-100">
                <a:solidFill>
                  <a:srgbClr val="CC0000"/>
                </a:solidFill>
                <a:latin typeface="RoxboroughCF Bold"/>
                <a:ea typeface="RoxboroughCF Bold"/>
                <a:cs typeface="RoxboroughCF Bold"/>
                <a:sym typeface="RoxboroughCF Bold"/>
              </a:rPr>
              <a:t>INSIGHT 1: Explosive Gr</a:t>
            </a:r>
            <a:r>
              <a:rPr lang="en-US" b="true" sz="5000" spc="-100">
                <a:solidFill>
                  <a:srgbClr val="CC0000"/>
                </a:solidFill>
                <a:latin typeface="RoxboroughCF Bold"/>
                <a:ea typeface="RoxboroughCF Bold"/>
                <a:cs typeface="RoxboroughCF Bold"/>
                <a:sym typeface="RoxboroughCF Bold"/>
              </a:rPr>
              <a:t>owth &amp; Distinct Seasonality</a:t>
            </a:r>
          </a:p>
        </p:txBody>
      </p:sp>
      <p:sp>
        <p:nvSpPr>
          <p:cNvPr name="TextBox 3" id="3"/>
          <p:cNvSpPr txBox="true"/>
          <p:nvPr/>
        </p:nvSpPr>
        <p:spPr>
          <a:xfrm rot="0">
            <a:off x="1028700" y="2458328"/>
            <a:ext cx="15919195" cy="1844675"/>
          </a:xfrm>
          <a:prstGeom prst="rect">
            <a:avLst/>
          </a:prstGeom>
        </p:spPr>
        <p:txBody>
          <a:bodyPr anchor="t" rtlCol="false" tIns="0" lIns="0" bIns="0" rIns="0">
            <a:spAutoFit/>
          </a:bodyPr>
          <a:lstStyle/>
          <a:p>
            <a:pPr algn="ctr">
              <a:lnSpc>
                <a:spcPts val="4900"/>
              </a:lnSpc>
            </a:pPr>
            <a:r>
              <a:rPr lang="en-US" sz="3500">
                <a:solidFill>
                  <a:srgbClr val="333333"/>
                </a:solidFill>
                <a:latin typeface="Sorts Mill Goudy"/>
                <a:ea typeface="Sorts Mill Goudy"/>
                <a:cs typeface="Sorts Mill Goudy"/>
                <a:sym typeface="Sorts Mill Goudy"/>
              </a:rPr>
              <a:t>The business shows a massive 136% year-over-year sales increase, with a clear sales peak in August that differs from typical holiday rushes.</a:t>
            </a:r>
          </a:p>
          <a:p>
            <a:pPr algn="ctr">
              <a:lnSpc>
                <a:spcPts val="4900"/>
              </a:lnSpc>
            </a:pPr>
          </a:p>
        </p:txBody>
      </p:sp>
      <p:pic>
        <p:nvPicPr>
          <p:cNvPr name="Picture 4" id="4"/>
          <p:cNvPicPr>
            <a:picLocks noChangeAspect="true"/>
          </p:cNvPicPr>
          <p:nvPr/>
        </p:nvPicPr>
        <p:blipFill>
          <a:blip r:embed="rId2"/>
          <a:stretch>
            <a:fillRect/>
          </a:stretch>
        </p:blipFill>
        <p:spPr>
          <a:xfrm rot="0">
            <a:off x="266579" y="3698514"/>
            <a:ext cx="9145453" cy="7219738"/>
          </a:xfrm>
          <a:prstGeom prst="rect">
            <a:avLst/>
          </a:prstGeom>
        </p:spPr>
      </p:pic>
      <p:pic>
        <p:nvPicPr>
          <p:cNvPr name="Picture 5" id="5"/>
          <p:cNvPicPr>
            <a:picLocks noChangeAspect="true"/>
          </p:cNvPicPr>
          <p:nvPr/>
        </p:nvPicPr>
        <p:blipFill>
          <a:blip r:embed="rId3"/>
          <a:stretch>
            <a:fillRect/>
          </a:stretch>
        </p:blipFill>
        <p:spPr>
          <a:xfrm rot="0">
            <a:off x="8492655" y="3682781"/>
            <a:ext cx="9563612" cy="7343819"/>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sp>
        <p:nvSpPr>
          <p:cNvPr name="TextBox 2" id="2"/>
          <p:cNvSpPr txBox="true"/>
          <p:nvPr/>
        </p:nvSpPr>
        <p:spPr>
          <a:xfrm rot="0">
            <a:off x="634655" y="2116502"/>
            <a:ext cx="17514758" cy="1235531"/>
          </a:xfrm>
          <a:prstGeom prst="rect">
            <a:avLst/>
          </a:prstGeom>
        </p:spPr>
        <p:txBody>
          <a:bodyPr anchor="t" rtlCol="false" tIns="0" lIns="0" bIns="0" rIns="0">
            <a:spAutoFit/>
          </a:bodyPr>
          <a:lstStyle/>
          <a:p>
            <a:pPr algn="ctr">
              <a:lnSpc>
                <a:spcPts val="4942"/>
              </a:lnSpc>
            </a:pPr>
            <a:r>
              <a:rPr lang="en-US" sz="3530">
                <a:solidFill>
                  <a:srgbClr val="333333"/>
                </a:solidFill>
                <a:latin typeface="Sorts Mill Goudy"/>
                <a:ea typeface="Sorts Mill Goudy"/>
                <a:cs typeface="Sorts Mill Goudy"/>
                <a:sym typeface="Sorts Mill Goudy"/>
              </a:rPr>
              <a:t>The business is dominated by the Southeast. São Paulo (SP) alone has more than 3x the customers of the next largest state and also benefits from the fastest and cheapest shipping.</a:t>
            </a:r>
          </a:p>
        </p:txBody>
      </p:sp>
      <p:pic>
        <p:nvPicPr>
          <p:cNvPr name="Picture 3" id="3"/>
          <p:cNvPicPr>
            <a:picLocks noChangeAspect="true"/>
          </p:cNvPicPr>
          <p:nvPr/>
        </p:nvPicPr>
        <p:blipFill>
          <a:blip r:embed="rId2"/>
          <a:stretch>
            <a:fillRect/>
          </a:stretch>
        </p:blipFill>
        <p:spPr>
          <a:xfrm rot="0">
            <a:off x="268518" y="3102105"/>
            <a:ext cx="9122186" cy="7803210"/>
          </a:xfrm>
          <a:prstGeom prst="rect">
            <a:avLst/>
          </a:prstGeom>
        </p:spPr>
      </p:pic>
      <p:graphicFrame>
        <p:nvGraphicFramePr>
          <p:cNvPr name="Table 4" id="4"/>
          <p:cNvGraphicFramePr>
            <a:graphicFrameLocks noGrp="true"/>
          </p:cNvGraphicFramePr>
          <p:nvPr/>
        </p:nvGraphicFramePr>
        <p:xfrm>
          <a:off x="9144000" y="4663942"/>
          <a:ext cx="8843488" cy="5149499"/>
        </p:xfrm>
        <a:graphic>
          <a:graphicData uri="http://schemas.openxmlformats.org/drawingml/2006/table">
            <a:tbl>
              <a:tblPr/>
              <a:tblGrid>
                <a:gridCol w="2487906"/>
                <a:gridCol w="3799138"/>
                <a:gridCol w="2556444"/>
              </a:tblGrid>
              <a:tr h="2142207">
                <a:tc>
                  <a:txBody>
                    <a:bodyPr anchor="t" rtlCol="false"/>
                    <a:lstStyle/>
                    <a:p>
                      <a:pPr algn="ctr">
                        <a:lnSpc>
                          <a:spcPts val="3640"/>
                        </a:lnSpc>
                        <a:defRPr/>
                      </a:pPr>
                      <a:r>
                        <a:rPr lang="en-US" b="true" sz="2600" i="true">
                          <a:solidFill>
                            <a:srgbClr val="FFFFFF"/>
                          </a:solidFill>
                          <a:latin typeface="Montserrat Bold Italics"/>
                          <a:ea typeface="Montserrat Bold Italics"/>
                          <a:cs typeface="Montserrat Bold Italics"/>
                          <a:sym typeface="Montserrat Bold Italics"/>
                        </a:rPr>
                        <a:t>STATE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374F"/>
                    </a:solidFill>
                  </a:tcPr>
                </a:tc>
                <a:tc>
                  <a:txBody>
                    <a:bodyPr anchor="t" rtlCol="false"/>
                    <a:lstStyle/>
                    <a:p>
                      <a:pPr algn="l">
                        <a:lnSpc>
                          <a:spcPts val="3639"/>
                        </a:lnSpc>
                        <a:defRPr/>
                      </a:pPr>
                      <a:r>
                        <a:rPr lang="en-US" b="true" sz="2599" i="true">
                          <a:solidFill>
                            <a:srgbClr val="FFFFFF"/>
                          </a:solidFill>
                          <a:latin typeface="Montserrat Bold Italics"/>
                          <a:ea typeface="Montserrat Bold Italics"/>
                          <a:cs typeface="Montserrat Bold Italics"/>
                          <a:sym typeface="Montserrat Bold Italics"/>
                        </a:rPr>
                        <a:t>Avg. Shipping Cost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374F"/>
                    </a:solidFill>
                  </a:tcPr>
                </a:tc>
                <a:tc>
                  <a:txBody>
                    <a:bodyPr anchor="t" rtlCol="false"/>
                    <a:lstStyle/>
                    <a:p>
                      <a:pPr algn="l">
                        <a:lnSpc>
                          <a:spcPts val="3639"/>
                        </a:lnSpc>
                        <a:defRPr/>
                      </a:pPr>
                      <a:r>
                        <a:rPr lang="en-US" b="true" sz="2599" i="true">
                          <a:solidFill>
                            <a:srgbClr val="FFFFFF"/>
                          </a:solidFill>
                          <a:latin typeface="Montserrat Bold Italics"/>
                          <a:ea typeface="Montserrat Bold Italics"/>
                          <a:cs typeface="Montserrat Bold Italics"/>
                          <a:sym typeface="Montserrat Bold Italics"/>
                        </a:rPr>
                        <a:t>Avg. Delivery Time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7374F"/>
                    </a:solidFill>
                  </a:tcPr>
                </a:tc>
              </a:tr>
              <a:tr h="1525583">
                <a:tc>
                  <a:txBody>
                    <a:bodyPr anchor="t" rtlCol="false"/>
                    <a:lstStyle/>
                    <a:p>
                      <a:pPr algn="ctr">
                        <a:lnSpc>
                          <a:spcPts val="4200"/>
                        </a:lnSpc>
                        <a:defRPr/>
                      </a:pPr>
                      <a:r>
                        <a:rPr lang="en-US" sz="3000" b="true">
                          <a:solidFill>
                            <a:srgbClr val="000000"/>
                          </a:solidFill>
                          <a:latin typeface="Montserrat Bold"/>
                          <a:ea typeface="Montserrat Bold"/>
                          <a:cs typeface="Montserrat Bold"/>
                          <a:sym typeface="Montserrat Bold"/>
                        </a:rPr>
                        <a:t>SP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$17.65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4200"/>
                        </a:lnSpc>
                        <a:defRPr/>
                      </a:pPr>
                      <a:r>
                        <a:rPr lang="en-US" sz="3000">
                          <a:solidFill>
                            <a:srgbClr val="000000"/>
                          </a:solidFill>
                          <a:latin typeface="Canva Sans"/>
                          <a:ea typeface="Canva Sans"/>
                          <a:cs typeface="Canva Sans"/>
                          <a:sym typeface="Canva Sans"/>
                        </a:rPr>
                        <a:t>8.3 days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81709">
                <a:tc>
                  <a:txBody>
                    <a:bodyPr anchor="t" rtlCol="false"/>
                    <a:lstStyle/>
                    <a:p>
                      <a:pPr algn="ctr">
                        <a:lnSpc>
                          <a:spcPts val="4200"/>
                        </a:lnSpc>
                        <a:defRPr/>
                      </a:pPr>
                      <a:r>
                        <a:rPr lang="en-US" sz="3000" b="true">
                          <a:solidFill>
                            <a:srgbClr val="000000"/>
                          </a:solidFill>
                          <a:latin typeface="Arimo Bold"/>
                          <a:ea typeface="Arimo Bold"/>
                          <a:cs typeface="Arimo Bold"/>
                          <a:sym typeface="Arimo Bold"/>
                        </a:rPr>
                        <a:t>RR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Canva Sans"/>
                          <a:ea typeface="Canva Sans"/>
                          <a:cs typeface="Canva Sans"/>
                          <a:sym typeface="Canva Sans"/>
                        </a:rPr>
                        <a:t>$60.10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4200"/>
                        </a:lnSpc>
                        <a:defRPr/>
                      </a:pPr>
                      <a:r>
                        <a:rPr lang="en-US" sz="3000">
                          <a:solidFill>
                            <a:srgbClr val="000000"/>
                          </a:solidFill>
                          <a:latin typeface="Canva Sans"/>
                          <a:ea typeface="Canva Sans"/>
                          <a:cs typeface="Canva Sans"/>
                          <a:sym typeface="Canva Sans"/>
                        </a:rPr>
                        <a:t>29.3 days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3912129" y="92075"/>
            <a:ext cx="10539939" cy="1758950"/>
          </a:xfrm>
          <a:prstGeom prst="rect">
            <a:avLst/>
          </a:prstGeom>
        </p:spPr>
        <p:txBody>
          <a:bodyPr anchor="t" rtlCol="false" tIns="0" lIns="0" bIns="0" rIns="0">
            <a:spAutoFit/>
          </a:bodyPr>
          <a:lstStyle/>
          <a:p>
            <a:pPr algn="ctr">
              <a:lnSpc>
                <a:spcPts val="7000"/>
              </a:lnSpc>
            </a:pPr>
            <a:r>
              <a:rPr lang="en-US" b="true" sz="5000" spc="-100">
                <a:solidFill>
                  <a:srgbClr val="CC0000"/>
                </a:solidFill>
                <a:latin typeface="RoxboroughCF Bold"/>
                <a:ea typeface="RoxboroughCF Bold"/>
                <a:cs typeface="RoxboroughCF Bold"/>
                <a:sym typeface="RoxboroughCF Bold"/>
              </a:rPr>
              <a:t>INSIGHT 2: São Paulo is </a:t>
            </a:r>
            <a:r>
              <a:rPr lang="en-US" b="true" sz="5000" spc="-100">
                <a:solidFill>
                  <a:srgbClr val="CC0000"/>
                </a:solidFill>
                <a:latin typeface="RoxboroughCF Bold"/>
                <a:ea typeface="RoxboroughCF Bold"/>
                <a:cs typeface="RoxboroughCF Bold"/>
                <a:sym typeface="RoxboroughCF Bold"/>
              </a:rPr>
              <a:t>the Undisputed Geographic Engine</a:t>
            </a:r>
          </a:p>
        </p:txBody>
      </p:sp>
      <p:sp>
        <p:nvSpPr>
          <p:cNvPr name="TextBox 6" id="6"/>
          <p:cNvSpPr txBox="true"/>
          <p:nvPr/>
        </p:nvSpPr>
        <p:spPr>
          <a:xfrm rot="0">
            <a:off x="9480743" y="3980227"/>
            <a:ext cx="7397919" cy="389255"/>
          </a:xfrm>
          <a:prstGeom prst="rect">
            <a:avLst/>
          </a:prstGeom>
        </p:spPr>
        <p:txBody>
          <a:bodyPr anchor="t" rtlCol="false" tIns="0" lIns="0" bIns="0" rIns="0">
            <a:spAutoFit/>
          </a:bodyPr>
          <a:lstStyle/>
          <a:p>
            <a:pPr algn="ctr">
              <a:lnSpc>
                <a:spcPts val="3220"/>
              </a:lnSpc>
            </a:pPr>
            <a:r>
              <a:rPr lang="en-US" sz="2300">
                <a:solidFill>
                  <a:srgbClr val="000000"/>
                </a:solidFill>
                <a:latin typeface="Montserrat"/>
                <a:ea typeface="Montserrat"/>
                <a:cs typeface="Montserrat"/>
                <a:sym typeface="Montserrat"/>
              </a:rPr>
              <a:t>Logistics: </a:t>
            </a:r>
            <a:r>
              <a:rPr lang="en-US" sz="2300">
                <a:solidFill>
                  <a:srgbClr val="000000"/>
                </a:solidFill>
                <a:latin typeface="Montserrat"/>
                <a:ea typeface="Montserrat"/>
                <a:cs typeface="Montserrat"/>
                <a:sym typeface="Montserrat"/>
              </a:rPr>
              <a:t>A Tale of Two States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219598" y="2986813"/>
            <a:ext cx="9328858" cy="7888603"/>
          </a:xfrm>
          <a:prstGeom prst="rect">
            <a:avLst/>
          </a:prstGeom>
        </p:spPr>
      </p:pic>
      <p:pic>
        <p:nvPicPr>
          <p:cNvPr name="Picture 3" id="3"/>
          <p:cNvPicPr>
            <a:picLocks noChangeAspect="true"/>
          </p:cNvPicPr>
          <p:nvPr/>
        </p:nvPicPr>
        <p:blipFill>
          <a:blip r:embed="rId3"/>
          <a:stretch>
            <a:fillRect/>
          </a:stretch>
        </p:blipFill>
        <p:spPr>
          <a:xfrm rot="0">
            <a:off x="7922226" y="2708097"/>
            <a:ext cx="10185899" cy="8238738"/>
          </a:xfrm>
          <a:prstGeom prst="rect">
            <a:avLst/>
          </a:prstGeom>
        </p:spPr>
      </p:pic>
      <p:sp>
        <p:nvSpPr>
          <p:cNvPr name="Freeform 4" id="4"/>
          <p:cNvSpPr/>
          <p:nvPr/>
        </p:nvSpPr>
        <p:spPr>
          <a:xfrm flipH="false" flipV="false" rot="0">
            <a:off x="14146066" y="4441491"/>
            <a:ext cx="3346317" cy="2385976"/>
          </a:xfrm>
          <a:custGeom>
            <a:avLst/>
            <a:gdLst/>
            <a:ahLst/>
            <a:cxnLst/>
            <a:rect r="r" b="b" t="t" l="l"/>
            <a:pathLst>
              <a:path h="2385976" w="3346317">
                <a:moveTo>
                  <a:pt x="0" y="0"/>
                </a:moveTo>
                <a:lnTo>
                  <a:pt x="3346318" y="0"/>
                </a:lnTo>
                <a:lnTo>
                  <a:pt x="3346318" y="2385975"/>
                </a:lnTo>
                <a:lnTo>
                  <a:pt x="0" y="2385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12129" y="92075"/>
            <a:ext cx="10539939" cy="1758950"/>
          </a:xfrm>
          <a:prstGeom prst="rect">
            <a:avLst/>
          </a:prstGeom>
        </p:spPr>
        <p:txBody>
          <a:bodyPr anchor="t" rtlCol="false" tIns="0" lIns="0" bIns="0" rIns="0">
            <a:spAutoFit/>
          </a:bodyPr>
          <a:lstStyle/>
          <a:p>
            <a:pPr algn="ctr">
              <a:lnSpc>
                <a:spcPts val="7000"/>
              </a:lnSpc>
            </a:pPr>
            <a:r>
              <a:rPr lang="en-US" b="true" sz="5000" spc="-100">
                <a:solidFill>
                  <a:srgbClr val="CC0000"/>
                </a:solidFill>
                <a:latin typeface="RoxboroughCF Bold"/>
                <a:ea typeface="RoxboroughCF Bold"/>
                <a:cs typeface="RoxboroughCF Bold"/>
                <a:sym typeface="RoxboroughCF Bold"/>
              </a:rPr>
              <a:t>INSIGHT 3: The Afternoon Rush &amp; T</a:t>
            </a:r>
            <a:r>
              <a:rPr lang="en-US" b="true" sz="5000" spc="-100">
                <a:solidFill>
                  <a:srgbClr val="CC0000"/>
                </a:solidFill>
                <a:latin typeface="RoxboroughCF Bold"/>
                <a:ea typeface="RoxboroughCF Bold"/>
                <a:cs typeface="RoxboroughCF Bold"/>
                <a:sym typeface="RoxboroughCF Bold"/>
              </a:rPr>
              <a:t>he Power of Installment Plans</a:t>
            </a:r>
          </a:p>
        </p:txBody>
      </p:sp>
      <p:sp>
        <p:nvSpPr>
          <p:cNvPr name="TextBox 6" id="6"/>
          <p:cNvSpPr txBox="true"/>
          <p:nvPr/>
        </p:nvSpPr>
        <p:spPr>
          <a:xfrm rot="0">
            <a:off x="634655" y="2097452"/>
            <a:ext cx="17514758" cy="1235531"/>
          </a:xfrm>
          <a:prstGeom prst="rect">
            <a:avLst/>
          </a:prstGeom>
        </p:spPr>
        <p:txBody>
          <a:bodyPr anchor="t" rtlCol="false" tIns="0" lIns="0" bIns="0" rIns="0">
            <a:spAutoFit/>
          </a:bodyPr>
          <a:lstStyle/>
          <a:p>
            <a:pPr algn="ctr">
              <a:lnSpc>
                <a:spcPts val="4942"/>
              </a:lnSpc>
            </a:pPr>
            <a:r>
              <a:rPr lang="en-US" sz="3530">
                <a:solidFill>
                  <a:srgbClr val="333333"/>
                </a:solidFill>
                <a:latin typeface="Sorts Mill Goudy"/>
                <a:ea typeface="Sorts Mill Goudy"/>
                <a:cs typeface="Sorts Mill Goudy"/>
                <a:sym typeface="Sorts Mill Goudy"/>
              </a:rPr>
              <a:t>Shopping activity peaks in the afternoon. While single payments are most common, the option to pay in installments is a critical feature for a large number of customers.</a:t>
            </a:r>
          </a:p>
        </p:txBody>
      </p:sp>
      <p:sp>
        <p:nvSpPr>
          <p:cNvPr name="TextBox 7" id="7"/>
          <p:cNvSpPr txBox="true"/>
          <p:nvPr/>
        </p:nvSpPr>
        <p:spPr>
          <a:xfrm rot="0">
            <a:off x="14241316" y="4963488"/>
            <a:ext cx="3113234" cy="816610"/>
          </a:xfrm>
          <a:prstGeom prst="rect">
            <a:avLst/>
          </a:prstGeom>
        </p:spPr>
        <p:txBody>
          <a:bodyPr anchor="t" rtlCol="false" tIns="0" lIns="0" bIns="0" rIns="0">
            <a:spAutoFit/>
          </a:bodyPr>
          <a:lstStyle/>
          <a:p>
            <a:pPr algn="ctr">
              <a:lnSpc>
                <a:spcPts val="2239"/>
              </a:lnSpc>
              <a:spcBef>
                <a:spcPct val="0"/>
              </a:spcBef>
            </a:pPr>
            <a:r>
              <a:rPr lang="en-US" sz="1599" i="true" spc="-31">
                <a:solidFill>
                  <a:srgbClr val="000000"/>
                </a:solidFill>
                <a:latin typeface="Montserrat Italics"/>
                <a:ea typeface="Montserrat Italics"/>
                <a:cs typeface="Montserrat Italics"/>
                <a:sym typeface="Montserrat Italics"/>
              </a:rPr>
              <a:t> </a:t>
            </a:r>
            <a:r>
              <a:rPr lang="en-US" b="true" sz="1599" i="true" spc="-31">
                <a:solidFill>
                  <a:srgbClr val="000000"/>
                </a:solidFill>
                <a:latin typeface="Montserrat Bold Italics"/>
                <a:ea typeface="Montserrat Bold Italics"/>
                <a:cs typeface="Montserrat Bold Italics"/>
                <a:sym typeface="Montserrat Bold Italics"/>
              </a:rPr>
              <a:t>“</a:t>
            </a:r>
            <a:r>
              <a:rPr lang="en-US" sz="1599" i="true" spc="-31">
                <a:solidFill>
                  <a:srgbClr val="000000"/>
                </a:solidFill>
                <a:latin typeface="Montserrat Italics"/>
                <a:ea typeface="Montserrat Italics"/>
                <a:cs typeface="Montserrat Italics"/>
                <a:sym typeface="Montserrat Italics"/>
              </a:rPr>
              <a:t>Single</a:t>
            </a:r>
            <a:r>
              <a:rPr lang="en-US" sz="1599" i="true" spc="-31">
                <a:solidFill>
                  <a:srgbClr val="000000"/>
                </a:solidFill>
                <a:latin typeface="Montserrat Italics"/>
                <a:ea typeface="Montserrat Italics"/>
                <a:cs typeface="Montserrat Italics"/>
                <a:sym typeface="Montserrat Italics"/>
              </a:rPr>
              <a:t> payments are nearly 5x more common than paying in two installments</a:t>
            </a:r>
            <a:r>
              <a:rPr lang="en-US" b="true" sz="1599" i="true" spc="-31">
                <a:solidFill>
                  <a:srgbClr val="000000"/>
                </a:solidFill>
                <a:latin typeface="Montserrat Bold Italics"/>
                <a:ea typeface="Montserrat Bold Italics"/>
                <a:cs typeface="Montserrat Bold Italics"/>
                <a:sym typeface="Montserrat Bold Italics"/>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sp>
        <p:nvSpPr>
          <p:cNvPr name="Freeform 2" id="2"/>
          <p:cNvSpPr/>
          <p:nvPr/>
        </p:nvSpPr>
        <p:spPr>
          <a:xfrm flipH="false" flipV="false" rot="0">
            <a:off x="5431572" y="4053750"/>
            <a:ext cx="7501054" cy="5204550"/>
          </a:xfrm>
          <a:custGeom>
            <a:avLst/>
            <a:gdLst/>
            <a:ahLst/>
            <a:cxnLst/>
            <a:rect r="r" b="b" t="t" l="l"/>
            <a:pathLst>
              <a:path h="5204550" w="7501054">
                <a:moveTo>
                  <a:pt x="0" y="0"/>
                </a:moveTo>
                <a:lnTo>
                  <a:pt x="7501054" y="0"/>
                </a:lnTo>
                <a:lnTo>
                  <a:pt x="7501054" y="5204550"/>
                </a:lnTo>
                <a:lnTo>
                  <a:pt x="0" y="5204550"/>
                </a:lnTo>
                <a:lnTo>
                  <a:pt x="0" y="0"/>
                </a:lnTo>
                <a:close/>
              </a:path>
            </a:pathLst>
          </a:custGeom>
          <a:blipFill>
            <a:blip r:embed="rId2"/>
            <a:stretch>
              <a:fillRect l="0" t="-662" r="-14704" b="-23823"/>
            </a:stretch>
          </a:blipFill>
        </p:spPr>
      </p:sp>
      <p:sp>
        <p:nvSpPr>
          <p:cNvPr name="Freeform 3" id="3"/>
          <p:cNvSpPr/>
          <p:nvPr/>
        </p:nvSpPr>
        <p:spPr>
          <a:xfrm flipH="false" flipV="false" rot="-5400000">
            <a:off x="8681487" y="5586544"/>
            <a:ext cx="4310761" cy="2895200"/>
          </a:xfrm>
          <a:custGeom>
            <a:avLst/>
            <a:gdLst/>
            <a:ahLst/>
            <a:cxnLst/>
            <a:rect r="r" b="b" t="t" l="l"/>
            <a:pathLst>
              <a:path h="2895200" w="4310761">
                <a:moveTo>
                  <a:pt x="0" y="0"/>
                </a:moveTo>
                <a:lnTo>
                  <a:pt x="4310761" y="0"/>
                </a:lnTo>
                <a:lnTo>
                  <a:pt x="4310761" y="2895200"/>
                </a:lnTo>
                <a:lnTo>
                  <a:pt x="0" y="2895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912129" y="92075"/>
            <a:ext cx="10539939" cy="1758950"/>
          </a:xfrm>
          <a:prstGeom prst="rect">
            <a:avLst/>
          </a:prstGeom>
        </p:spPr>
        <p:txBody>
          <a:bodyPr anchor="t" rtlCol="false" tIns="0" lIns="0" bIns="0" rIns="0">
            <a:spAutoFit/>
          </a:bodyPr>
          <a:lstStyle/>
          <a:p>
            <a:pPr algn="ctr">
              <a:lnSpc>
                <a:spcPts val="7000"/>
              </a:lnSpc>
            </a:pPr>
            <a:r>
              <a:rPr lang="en-US" b="true" sz="5000" spc="-100">
                <a:solidFill>
                  <a:srgbClr val="CC0000"/>
                </a:solidFill>
                <a:latin typeface="RoxboroughCF Bold"/>
                <a:ea typeface="RoxboroughCF Bold"/>
                <a:cs typeface="RoxboroughCF Bold"/>
                <a:sym typeface="RoxboroughCF Bold"/>
              </a:rPr>
              <a:t>INSIGHT 4: Smart Logistics - Managing Cust</a:t>
            </a:r>
            <a:r>
              <a:rPr lang="en-US" b="true" sz="5000" spc="-100">
                <a:solidFill>
                  <a:srgbClr val="CC0000"/>
                </a:solidFill>
                <a:latin typeface="RoxboroughCF Bold"/>
                <a:ea typeface="RoxboroughCF Bold"/>
                <a:cs typeface="RoxboroughCF Bold"/>
                <a:sym typeface="RoxboroughCF Bold"/>
              </a:rPr>
              <a:t>omer Expectations</a:t>
            </a:r>
          </a:p>
        </p:txBody>
      </p:sp>
      <p:sp>
        <p:nvSpPr>
          <p:cNvPr name="TextBox 5" id="5"/>
          <p:cNvSpPr txBox="true"/>
          <p:nvPr/>
        </p:nvSpPr>
        <p:spPr>
          <a:xfrm rot="0">
            <a:off x="364535" y="2078402"/>
            <a:ext cx="17784879" cy="1689598"/>
          </a:xfrm>
          <a:prstGeom prst="rect">
            <a:avLst/>
          </a:prstGeom>
        </p:spPr>
        <p:txBody>
          <a:bodyPr anchor="t" rtlCol="false" tIns="0" lIns="0" bIns="0" rIns="0">
            <a:spAutoFit/>
          </a:bodyPr>
          <a:lstStyle/>
          <a:p>
            <a:pPr algn="ctr">
              <a:lnSpc>
                <a:spcPts val="4522"/>
              </a:lnSpc>
            </a:pPr>
            <a:r>
              <a:rPr lang="en-US" sz="3230">
                <a:solidFill>
                  <a:srgbClr val="333333"/>
                </a:solidFill>
                <a:latin typeface="Sorts Mill Goudy"/>
                <a:ea typeface="Sorts Mill Goudy"/>
                <a:cs typeface="Sorts Mill Goudy"/>
                <a:sym typeface="Sorts Mill Goudy"/>
              </a:rPr>
              <a:t>While objective delivery times to remote states can be long, the company provides generous estimates. This results in packages arriving, on average, more than 14 days ahead of the promised date, leading to happier customers.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sp>
        <p:nvSpPr>
          <p:cNvPr name="Freeform 2" id="2"/>
          <p:cNvSpPr/>
          <p:nvPr/>
        </p:nvSpPr>
        <p:spPr>
          <a:xfrm flipH="false" flipV="false" rot="0">
            <a:off x="1447665" y="1206072"/>
            <a:ext cx="2874215" cy="2674983"/>
          </a:xfrm>
          <a:custGeom>
            <a:avLst/>
            <a:gdLst/>
            <a:ahLst/>
            <a:cxnLst/>
            <a:rect r="r" b="b" t="t" l="l"/>
            <a:pathLst>
              <a:path h="2674983" w="2874215">
                <a:moveTo>
                  <a:pt x="0" y="0"/>
                </a:moveTo>
                <a:lnTo>
                  <a:pt x="2874215" y="0"/>
                </a:lnTo>
                <a:lnTo>
                  <a:pt x="2874215" y="2674983"/>
                </a:lnTo>
                <a:lnTo>
                  <a:pt x="0" y="2674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67111" y="4100130"/>
            <a:ext cx="2754769" cy="2800596"/>
          </a:xfrm>
          <a:custGeom>
            <a:avLst/>
            <a:gdLst/>
            <a:ahLst/>
            <a:cxnLst/>
            <a:rect r="r" b="b" t="t" l="l"/>
            <a:pathLst>
              <a:path h="2800596" w="2754769">
                <a:moveTo>
                  <a:pt x="0" y="0"/>
                </a:moveTo>
                <a:lnTo>
                  <a:pt x="2754769" y="0"/>
                </a:lnTo>
                <a:lnTo>
                  <a:pt x="2754769" y="2800596"/>
                </a:lnTo>
                <a:lnTo>
                  <a:pt x="0" y="2800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67111" y="7138851"/>
            <a:ext cx="2847975" cy="2847975"/>
          </a:xfrm>
          <a:custGeom>
            <a:avLst/>
            <a:gdLst/>
            <a:ahLst/>
            <a:cxnLst/>
            <a:rect r="r" b="b" t="t" l="l"/>
            <a:pathLst>
              <a:path h="2847975" w="2847975">
                <a:moveTo>
                  <a:pt x="0" y="0"/>
                </a:moveTo>
                <a:lnTo>
                  <a:pt x="2847975" y="0"/>
                </a:lnTo>
                <a:lnTo>
                  <a:pt x="2847975" y="2847975"/>
                </a:lnTo>
                <a:lnTo>
                  <a:pt x="0" y="28479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912129" y="92075"/>
            <a:ext cx="10539939" cy="873125"/>
          </a:xfrm>
          <a:prstGeom prst="rect">
            <a:avLst/>
          </a:prstGeom>
        </p:spPr>
        <p:txBody>
          <a:bodyPr anchor="t" rtlCol="false" tIns="0" lIns="0" bIns="0" rIns="0">
            <a:spAutoFit/>
          </a:bodyPr>
          <a:lstStyle/>
          <a:p>
            <a:pPr algn="ctr">
              <a:lnSpc>
                <a:spcPts val="7000"/>
              </a:lnSpc>
            </a:pPr>
            <a:r>
              <a:rPr lang="en-US" b="true" sz="5000" spc="-100">
                <a:solidFill>
                  <a:srgbClr val="CC0000"/>
                </a:solidFill>
                <a:latin typeface="RoxboroughCF Bold"/>
                <a:ea typeface="RoxboroughCF Bold"/>
                <a:cs typeface="RoxboroughCF Bold"/>
                <a:sym typeface="RoxboroughCF Bold"/>
              </a:rPr>
              <a:t>Actionabl</a:t>
            </a:r>
            <a:r>
              <a:rPr lang="en-US" b="true" sz="5000" spc="-100">
                <a:solidFill>
                  <a:srgbClr val="CC0000"/>
                </a:solidFill>
                <a:latin typeface="RoxboroughCF Bold"/>
                <a:ea typeface="RoxboroughCF Bold"/>
                <a:cs typeface="RoxboroughCF Bold"/>
                <a:sym typeface="RoxboroughCF Bold"/>
              </a:rPr>
              <a:t>e Recommendations</a:t>
            </a:r>
          </a:p>
        </p:txBody>
      </p:sp>
      <p:sp>
        <p:nvSpPr>
          <p:cNvPr name="TextBox 6" id="6"/>
          <p:cNvSpPr txBox="true"/>
          <p:nvPr/>
        </p:nvSpPr>
        <p:spPr>
          <a:xfrm rot="0">
            <a:off x="5091643" y="1292057"/>
            <a:ext cx="12540040" cy="2601596"/>
          </a:xfrm>
          <a:prstGeom prst="rect">
            <a:avLst/>
          </a:prstGeom>
        </p:spPr>
        <p:txBody>
          <a:bodyPr anchor="t" rtlCol="false" tIns="0" lIns="0" bIns="0" rIns="0">
            <a:spAutoFit/>
          </a:bodyPr>
          <a:lstStyle/>
          <a:p>
            <a:pPr algn="ctr">
              <a:lnSpc>
                <a:spcPts val="5179"/>
              </a:lnSpc>
            </a:pPr>
            <a:r>
              <a:rPr lang="en-US" sz="3699">
                <a:solidFill>
                  <a:srgbClr val="333333"/>
                </a:solidFill>
                <a:latin typeface="Montserrat"/>
                <a:ea typeface="Montserrat"/>
                <a:cs typeface="Montserrat"/>
                <a:sym typeface="Montserrat"/>
              </a:rPr>
              <a:t>Counter the Seasonal Dip: Launch targeted marketing campaigns and promotions in September and October to address the slowest sales months of the year.</a:t>
            </a:r>
          </a:p>
        </p:txBody>
      </p:sp>
      <p:sp>
        <p:nvSpPr>
          <p:cNvPr name="TextBox 7" id="7"/>
          <p:cNvSpPr txBox="true"/>
          <p:nvPr/>
        </p:nvSpPr>
        <p:spPr>
          <a:xfrm rot="0">
            <a:off x="5091643" y="4485380"/>
            <a:ext cx="12827500" cy="1944371"/>
          </a:xfrm>
          <a:prstGeom prst="rect">
            <a:avLst/>
          </a:prstGeom>
        </p:spPr>
        <p:txBody>
          <a:bodyPr anchor="t" rtlCol="false" tIns="0" lIns="0" bIns="0" rIns="0">
            <a:spAutoFit/>
          </a:bodyPr>
          <a:lstStyle/>
          <a:p>
            <a:pPr algn="ctr">
              <a:lnSpc>
                <a:spcPts val="5179"/>
              </a:lnSpc>
            </a:pPr>
            <a:r>
              <a:rPr lang="en-US" sz="3699">
                <a:solidFill>
                  <a:srgbClr val="333333"/>
                </a:solidFill>
                <a:latin typeface="Montserrat"/>
                <a:ea typeface="Montserrat"/>
                <a:cs typeface="Montserrat"/>
                <a:sym typeface="Montserrat"/>
              </a:rPr>
              <a:t>Unlock New Markets: Investigate new logistics partnerships to reduce the high shipping costs and long delivery times to the North/Northeast regions.</a:t>
            </a:r>
          </a:p>
        </p:txBody>
      </p:sp>
      <p:sp>
        <p:nvSpPr>
          <p:cNvPr name="TextBox 8" id="8"/>
          <p:cNvSpPr txBox="true"/>
          <p:nvPr/>
        </p:nvSpPr>
        <p:spPr>
          <a:xfrm rot="0">
            <a:off x="5091643" y="7313929"/>
            <a:ext cx="12540040" cy="2601596"/>
          </a:xfrm>
          <a:prstGeom prst="rect">
            <a:avLst/>
          </a:prstGeom>
        </p:spPr>
        <p:txBody>
          <a:bodyPr anchor="t" rtlCol="false" tIns="0" lIns="0" bIns="0" rIns="0">
            <a:spAutoFit/>
          </a:bodyPr>
          <a:lstStyle/>
          <a:p>
            <a:pPr algn="ctr">
              <a:lnSpc>
                <a:spcPts val="5179"/>
              </a:lnSpc>
            </a:pPr>
            <a:r>
              <a:rPr lang="en-US" sz="3699">
                <a:solidFill>
                  <a:srgbClr val="333333"/>
                </a:solidFill>
                <a:latin typeface="Montserrat"/>
                <a:ea typeface="Montserrat"/>
                <a:cs typeface="Montserrat"/>
                <a:sym typeface="Montserrat"/>
              </a:rPr>
              <a:t>Maximize Peak Traffic: Focus flash sales and new product launches during the peak afternoon shopping window (1 PM - 4 PM) to maximize conversion.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DF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357011"/>
            <a:ext cx="1056949" cy="901289"/>
          </a:xfrm>
          <a:custGeom>
            <a:avLst/>
            <a:gdLst/>
            <a:ahLst/>
            <a:cxnLst/>
            <a:rect r="r" b="b" t="t" l="l"/>
            <a:pathLst>
              <a:path h="901289" w="1056949">
                <a:moveTo>
                  <a:pt x="0" y="0"/>
                </a:moveTo>
                <a:lnTo>
                  <a:pt x="1056949" y="0"/>
                </a:lnTo>
                <a:lnTo>
                  <a:pt x="1056949" y="901289"/>
                </a:lnTo>
                <a:lnTo>
                  <a:pt x="0" y="9012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74030" y="3067050"/>
            <a:ext cx="10539939" cy="2076450"/>
          </a:xfrm>
          <a:prstGeom prst="rect">
            <a:avLst/>
          </a:prstGeom>
        </p:spPr>
        <p:txBody>
          <a:bodyPr anchor="t" rtlCol="false" tIns="0" lIns="0" bIns="0" rIns="0">
            <a:spAutoFit/>
          </a:bodyPr>
          <a:lstStyle/>
          <a:p>
            <a:pPr algn="ctr">
              <a:lnSpc>
                <a:spcPts val="16800"/>
              </a:lnSpc>
            </a:pPr>
            <a:r>
              <a:rPr lang="en-US" b="true" sz="12000" spc="-240">
                <a:solidFill>
                  <a:srgbClr val="CC0000"/>
                </a:solidFill>
                <a:latin typeface="RoxboroughCF Bold"/>
                <a:ea typeface="RoxboroughCF Bold"/>
                <a:cs typeface="RoxboroughCF Bold"/>
                <a:sym typeface="RoxboroughCF Bold"/>
              </a:rPr>
              <a:t>Thank you!</a:t>
            </a:r>
          </a:p>
        </p:txBody>
      </p:sp>
      <p:sp>
        <p:nvSpPr>
          <p:cNvPr name="TextBox 4" id="4"/>
          <p:cNvSpPr txBox="true"/>
          <p:nvPr/>
        </p:nvSpPr>
        <p:spPr>
          <a:xfrm rot="0">
            <a:off x="2873980" y="5813115"/>
            <a:ext cx="12540040" cy="1019175"/>
          </a:xfrm>
          <a:prstGeom prst="rect">
            <a:avLst/>
          </a:prstGeom>
        </p:spPr>
        <p:txBody>
          <a:bodyPr anchor="t" rtlCol="false" tIns="0" lIns="0" bIns="0" rIns="0">
            <a:spAutoFit/>
          </a:bodyPr>
          <a:lstStyle/>
          <a:p>
            <a:pPr algn="ctr">
              <a:lnSpc>
                <a:spcPts val="4199"/>
              </a:lnSpc>
            </a:pPr>
            <a:r>
              <a:rPr lang="en-US" sz="2999">
                <a:solidFill>
                  <a:srgbClr val="333333"/>
                </a:solidFill>
                <a:latin typeface="Montserrat"/>
                <a:ea typeface="Montserrat"/>
                <a:cs typeface="Montserrat"/>
                <a:sym typeface="Montserrat"/>
              </a:rPr>
              <a:t>I'm passionate about using data to tell stories and drive business decisions. Let's Connect!</a:t>
            </a:r>
          </a:p>
        </p:txBody>
      </p:sp>
      <p:sp>
        <p:nvSpPr>
          <p:cNvPr name="TextBox 5" id="5"/>
          <p:cNvSpPr txBox="true"/>
          <p:nvPr/>
        </p:nvSpPr>
        <p:spPr>
          <a:xfrm rot="0">
            <a:off x="2161849" y="8401255"/>
            <a:ext cx="3036094" cy="688975"/>
          </a:xfrm>
          <a:prstGeom prst="rect">
            <a:avLst/>
          </a:prstGeom>
        </p:spPr>
        <p:txBody>
          <a:bodyPr anchor="t" rtlCol="false" tIns="0" lIns="0" bIns="0" rIns="0">
            <a:spAutoFit/>
          </a:bodyPr>
          <a:lstStyle/>
          <a:p>
            <a:pPr algn="ctr">
              <a:lnSpc>
                <a:spcPts val="5599"/>
              </a:lnSpc>
              <a:spcBef>
                <a:spcPct val="0"/>
              </a:spcBef>
            </a:pPr>
            <a:r>
              <a:rPr lang="en-US" sz="3999" spc="-79" u="sng">
                <a:solidFill>
                  <a:srgbClr val="000000"/>
                </a:solidFill>
                <a:latin typeface="RoxboroughCF"/>
                <a:ea typeface="RoxboroughCF"/>
                <a:cs typeface="RoxboroughCF"/>
                <a:sym typeface="RoxboroughCF"/>
                <a:hlinkClick r:id="rId4" tooltip="https://www.linkedin.com/in/sai-krishna-panuganti/"/>
              </a:rPr>
              <a:t>Let’s connect</a:t>
            </a:r>
            <a:r>
              <a:rPr lang="en-US" sz="3999" spc="-79">
                <a:solidFill>
                  <a:srgbClr val="000000"/>
                </a:solidFill>
                <a:latin typeface="RoxboroughCF"/>
                <a:ea typeface="RoxboroughCF"/>
                <a:cs typeface="RoxboroughCF"/>
                <a:sym typeface="RoxboroughCF"/>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DAG0p3HrkpE</dc:identifier>
  <dcterms:modified xsi:type="dcterms:W3CDTF">2011-08-01T06:04:30Z</dcterms:modified>
  <cp:revision>1</cp:revision>
  <dc:title>Add a heading</dc:title>
</cp:coreProperties>
</file>